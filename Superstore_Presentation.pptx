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Заказы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B2E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Office Supplies</c:v>
                </c:pt>
                <c:pt idx="1">
                  <c:v>Technology</c:v>
                </c:pt>
                <c:pt idx="2">
                  <c:v>Furniture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31272</c:v>
                </c:pt>
                <c:pt idx="1">
                  <c:v>10141</c:v>
                </c:pt>
                <c:pt idx="2">
                  <c:v>9876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0F-46B2-8A9C-6B0F578BB3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378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F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378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Маржа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B2E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Office Supplies</c:v>
                </c:pt>
                <c:pt idx="1">
                  <c:v>Technology</c:v>
                </c:pt>
                <c:pt idx="2">
                  <c:v>Furniture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0.06</c:v>
                </c:pt>
                <c:pt idx="1">
                  <c:v>0.05</c:v>
                </c:pt>
                <c:pt idx="2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E3-4F61-BFDF-4A75AF59B0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378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FEF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378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Коэффициент</c:v>
                </c:pt>
              </c:strCache>
            </c:strRef>
          </c:tx>
          <c:spPr>
            <a:solidFill>
              <a:srgbClr val="E85D4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D00-4FDE-9363-E2AB4AC0341D}"/>
              </c:ext>
            </c:extLst>
          </c:dPt>
          <c:dPt>
            <c:idx val="1"/>
            <c:invertIfNegative val="0"/>
            <c:bubble3D val="0"/>
            <c:spPr>
              <a:solidFill>
                <a:srgbClr val="E85D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00-4FDE-9363-E2AB4AC0341D}"/>
              </c:ext>
            </c:extLst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D00-4FDE-9363-E2AB4AC0341D}"/>
              </c:ext>
            </c:extLst>
          </c:dPt>
          <c:dPt>
            <c:idx val="3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D00-4FDE-9363-E2AB4AC0341D}"/>
              </c:ext>
            </c:extLst>
          </c:dPt>
          <c:dPt>
            <c:idx val="4"/>
            <c:invertIfNegative val="0"/>
            <c:bubble3D val="0"/>
            <c:spPr>
              <a:solidFill>
                <a:srgbClr val="E85D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D00-4FDE-9363-E2AB4AC0341D}"/>
              </c:ext>
            </c:extLst>
          </c:dPt>
          <c:cat>
            <c:strRef>
              <c:f>Sheet1!$A$2:$A$6</c:f>
              <c:strCache>
                <c:ptCount val="5"/>
                <c:pt idx="0">
                  <c:v>Discount</c:v>
                </c:pt>
                <c:pt idx="1">
                  <c:v>Sales</c:v>
                </c:pt>
                <c:pt idx="2">
                  <c:v>Shipping.Cost</c:v>
                </c:pt>
                <c:pt idx="3">
                  <c:v>Quantity</c:v>
                </c:pt>
                <c:pt idx="4">
                  <c:v>delivery_days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</c:v>
                </c:pt>
                <c:pt idx="1">
                  <c:v>0.62</c:v>
                </c:pt>
                <c:pt idx="2">
                  <c:v>-0.18</c:v>
                </c:pt>
                <c:pt idx="3">
                  <c:v>-0.05</c:v>
                </c:pt>
                <c:pt idx="4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D00-4FDE-9363-E2AB4AC034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378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9525" cap="flat">
              <a:solidFill>
                <a:srgbClr val="E6EF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6022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3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02C39A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продаж и прибыли розничной сети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51 290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5440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7FB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ДАННЫХ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37560" y="4892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37560" y="5440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7FB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ПРИЗНАКОВ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52160" y="4892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852160" y="5440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7FB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ГОДА (2011–2014)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366760" y="4892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366760" y="5440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7FB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ПРОВЕРЕННЫЕ ГИПОТЕЗЫ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· DATA ANALYTICS · ВЫПУСКНОЙ ПРОЕКТ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ПРОЕКТА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 магазине и о данных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— сеть розничных продаж, работающая на нескольких мировых рынках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9839" y="1901823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2F8F8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продаёт Superstore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категории товаров: </a:t>
            </a:r>
            <a:r>
              <a:rPr lang="en-US" sz="12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Supplies, Technology, Furniture, каждая делится на под-категории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сегмента клиентов: </a:t>
            </a:r>
            <a:r>
              <a:rPr lang="en-US" sz="12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(частные покупатели), Corporate, Home Office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рынков сбыта: </a:t>
            </a:r>
            <a:r>
              <a:rPr lang="en-US" sz="12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US, Canada, EU, EMEA, LATAM, APAC, Africa — продажи по всему миру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1605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 наблюдений: </a:t>
            </a:r>
            <a:r>
              <a:rPr lang="en-US" sz="12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2011–2014, с привязкой к датам заказа и доставки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87452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028090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2103120"/>
            <a:ext cx="548640" cy="548640"/>
          </a:xfrm>
          <a:prstGeom prst="ellipse">
            <a:avLst/>
          </a:prstGeom>
          <a:solidFill>
            <a:srgbClr val="0A4A52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326" y="2245766"/>
            <a:ext cx="263347" cy="26334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583680" y="2743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51 290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583680" y="32644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(заказов)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098280" y="187452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00A896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326880" y="2103120"/>
            <a:ext cx="548640" cy="548640"/>
          </a:xfrm>
          <a:prstGeom prst="ellipse">
            <a:avLst/>
          </a:prstGeom>
          <a:solidFill>
            <a:srgbClr val="0A4A52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9526" y="2245766"/>
            <a:ext cx="263347" cy="26334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326880" y="2743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9326880" y="32644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колонок-признаков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355080" y="397764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02C39A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583680" y="4206240"/>
            <a:ext cx="548640" cy="548640"/>
          </a:xfrm>
          <a:prstGeom prst="ellipse">
            <a:avLst/>
          </a:prstGeom>
          <a:solidFill>
            <a:srgbClr val="0A4A52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6326" y="4348886"/>
            <a:ext cx="263347" cy="263347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83680" y="4846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26" name="Text 21"/>
          <p:cNvSpPr/>
          <p:nvPr/>
        </p:nvSpPr>
        <p:spPr>
          <a:xfrm>
            <a:off x="6583680" y="536752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рынков сбыта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9098280" y="397764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03363D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326880" y="4206240"/>
            <a:ext cx="548640" cy="548640"/>
          </a:xfrm>
          <a:prstGeom prst="ellipse">
            <a:avLst/>
          </a:prstGeom>
          <a:solidFill>
            <a:srgbClr val="0A4A52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9526" y="4348886"/>
            <a:ext cx="263347" cy="263347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326880" y="4846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3</a:t>
            </a:r>
            <a:endParaRPr lang="en-US" sz="2600" dirty="0"/>
          </a:p>
        </p:txBody>
      </p:sp>
      <p:sp>
        <p:nvSpPr>
          <p:cNvPr id="31" name="Text 25"/>
          <p:cNvSpPr/>
          <p:nvPr/>
        </p:nvSpPr>
        <p:spPr>
          <a:xfrm>
            <a:off x="9326880" y="536752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категории / сегмента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· DATA ANALYTICS · ВЫПУСКНОЙ ПРОЕКТ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69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2084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k-KZ" sz="3000" dirty="0"/>
              <a:t>Цели и проблемы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Бизнес-вопрос: </a:t>
            </a:r>
            <a:r>
              <a:rPr lang="en-US" sz="1300" dirty="0" err="1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</a:t>
            </a:r>
            <a:r>
              <a:rPr lang="en-US" sz="13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</a:t>
            </a:r>
            <a:r>
              <a:rPr lang="en-US" sz="13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заказов убыточна, и что на это влияет?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DEDE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7744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Почти каждый 4-й заказ в сети приносит убыток. Менеджмент не знал, какие именно факторы — скидка, скорость доставки, сегмент клиента — реально определяют прибыльность заказа, а какие — нет.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проекта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2F8F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7548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Проанализировать 51 290 заказов Superstore, выявить и статистически проверить факторы прибыльности, построить прогнозную модель и интерактивный дашборд с рекомендациями для бизнеса.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2648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гипотезы, которые я проверяла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2240280"/>
            <a:ext cx="54864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2569464"/>
            <a:ext cx="548640" cy="548640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726" y="2712110"/>
            <a:ext cx="263347" cy="26334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086600" y="240487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1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086600" y="267919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Скидка свыше 20% снижает прибыль заказа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126480" y="3593592"/>
            <a:ext cx="54864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55080" y="3922776"/>
            <a:ext cx="548640" cy="548640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726" y="4065422"/>
            <a:ext cx="263347" cy="26334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086600" y="375818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2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7086600" y="4032504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Быстрая доставка повышает прибыль заказа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126480" y="4946904"/>
            <a:ext cx="54864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55080" y="5276088"/>
            <a:ext cx="548640" cy="548640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7726" y="5418734"/>
            <a:ext cx="263347" cy="263347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086600" y="511149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3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7086600" y="5385816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Корпоративные клиенты выгоднее частных (Consumer)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· DATA ANALYTICS · ВЫПУСКНОЙ ПРОЕКТ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3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029200" cy="50292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Путь от данных к выводам — 6 этапов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0A4A5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154680" y="21488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214" y="230337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743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и осмотр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317296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Структура, типы, пропуски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25112" y="18745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0A4A52"/>
          </a:solidFill>
          <a:ln/>
        </p:spPr>
      </p:sp>
      <p:sp>
        <p:nvSpPr>
          <p:cNvPr id="12" name="Text 9"/>
          <p:cNvSpPr/>
          <p:nvPr/>
        </p:nvSpPr>
        <p:spPr>
          <a:xfrm>
            <a:off x="4599432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931152" y="21488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5686" y="230337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99432" y="2743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 данных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599432" y="317296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Дубликаты, мусорные колонки, признаки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01584" y="18745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0A4A52"/>
          </a:solidFill>
          <a:ln/>
        </p:spPr>
      </p:sp>
      <p:sp>
        <p:nvSpPr>
          <p:cNvPr id="18" name="Text 14"/>
          <p:cNvSpPr/>
          <p:nvPr/>
        </p:nvSpPr>
        <p:spPr>
          <a:xfrm>
            <a:off x="8375904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10707624" y="21488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2158" y="2303374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75904" y="2743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Разведочный анализ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375904" y="317296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Распределения, сегменты, рынки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42062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0A4A52"/>
          </a:solidFill>
          <a:ln/>
        </p:spPr>
      </p:sp>
      <p:sp>
        <p:nvSpPr>
          <p:cNvPr id="24" name="Text 19"/>
          <p:cNvSpPr/>
          <p:nvPr/>
        </p:nvSpPr>
        <p:spPr>
          <a:xfrm>
            <a:off x="822960" y="4389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3154680" y="44805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9214" y="4635094"/>
            <a:ext cx="285293" cy="28529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22960" y="5074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метрики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822960" y="550468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Маржа, доля прибыльных заказов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325112" y="42062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0A4A52"/>
          </a:solidFill>
          <a:ln/>
        </p:spPr>
      </p:sp>
      <p:sp>
        <p:nvSpPr>
          <p:cNvPr id="30" name="Text 24"/>
          <p:cNvSpPr/>
          <p:nvPr/>
        </p:nvSpPr>
        <p:spPr>
          <a:xfrm>
            <a:off x="4599432" y="4389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Shape 25"/>
          <p:cNvSpPr/>
          <p:nvPr/>
        </p:nvSpPr>
        <p:spPr>
          <a:xfrm>
            <a:off x="6931152" y="44805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5686" y="4635094"/>
            <a:ext cx="285293" cy="28529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599432" y="5074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Регрессия</a:t>
            </a:r>
            <a:endParaRPr lang="en-US" sz="1550" dirty="0"/>
          </a:p>
        </p:txBody>
      </p:sp>
      <p:sp>
        <p:nvSpPr>
          <p:cNvPr id="34" name="Text 27"/>
          <p:cNvSpPr/>
          <p:nvPr/>
        </p:nvSpPr>
        <p:spPr>
          <a:xfrm>
            <a:off x="4599432" y="550468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прибыли по характеристикам заказа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8101584" y="42062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0A4A52"/>
          </a:solidFill>
          <a:ln/>
        </p:spPr>
      </p:sp>
      <p:sp>
        <p:nvSpPr>
          <p:cNvPr id="36" name="Text 29"/>
          <p:cNvSpPr/>
          <p:nvPr/>
        </p:nvSpPr>
        <p:spPr>
          <a:xfrm>
            <a:off x="8375904" y="4389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7" name="Shape 30"/>
          <p:cNvSpPr/>
          <p:nvPr/>
        </p:nvSpPr>
        <p:spPr>
          <a:xfrm>
            <a:off x="10707624" y="44805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2158" y="4635094"/>
            <a:ext cx="285293" cy="285293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375904" y="5074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гипотез</a:t>
            </a:r>
            <a:endParaRPr lang="en-US" sz="1550" dirty="0"/>
          </a:p>
        </p:txBody>
      </p:sp>
      <p:sp>
        <p:nvSpPr>
          <p:cNvPr id="40" name="Text 32"/>
          <p:cNvSpPr/>
          <p:nvPr/>
        </p:nvSpPr>
        <p:spPr>
          <a:xfrm>
            <a:off x="8375904" y="550468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t-тесты, p-value, выводы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1–2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Загрузка и очистка данных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Инструменты: Python, Pandas — от сырого CSV к аккуратному датасету для анализа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92808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92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81965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очистки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12140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51 290 строк, 27 колонок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67004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пропусков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9718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пропущенных значений — данные изначально полные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93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5204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 дублей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82219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дублей — записи уникальны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443984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443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437083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 технического мусора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672584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убрана служебная колонка “记录数” (константа) и 1 строка с Sales = 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294376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294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522122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признаки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552297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delivery_days (срок доставки) и profit_margin (Profit / Sales)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187452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03363D"/>
          </a:solidFill>
          <a:ln/>
          <a:effectLst>
            <a:outerShdw blurRad="1270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2940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ОЧИСТКИ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2468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51 290 → 51 289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629400" y="3063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после очистки (удалена 1 нулевая запись)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29400" y="3611880"/>
            <a:ext cx="4754880" cy="0"/>
          </a:xfrm>
          <a:prstGeom prst="line">
            <a:avLst/>
          </a:prstGeom>
          <a:noFill/>
          <a:ln w="12700">
            <a:solidFill>
              <a:srgbClr val="1F5B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37947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→ 26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629400" y="4251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колонок (убрана неинформативная служебная колонка)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629400" y="4800600"/>
            <a:ext cx="4754880" cy="0"/>
          </a:xfrm>
          <a:prstGeom prst="line">
            <a:avLst/>
          </a:prstGeom>
          <a:noFill/>
          <a:ln w="12700">
            <a:solidFill>
              <a:srgbClr val="1F5B6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4983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новых признака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29400" y="5349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delivery_days · profit_margin — основа для дальнейшего анализа и гипотез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· DATA ANALYTICS · ВЫПУСКНОЙ ПРОЕКТ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3 · РАЗВЕДОЧНЫЙ АНАЛИЗ (EDA)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и что продаёт Superstore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заказов по категориям товаров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28800"/>
          <a:ext cx="57607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583680" y="19202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0" y="228600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2F8F8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2450592"/>
            <a:ext cx="4526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 — самая массовая категория: 61% всех заказов. Furniture и Technology делят оставшуюся часть примерно пополам.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0" y="39319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Прибыль заказов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583680" y="4297680"/>
            <a:ext cx="5029200" cy="1783080"/>
          </a:xfrm>
          <a:prstGeom prst="roundRect">
            <a:avLst>
              <a:gd name="adj" fmla="val 4103"/>
            </a:avLst>
          </a:prstGeom>
          <a:solidFill>
            <a:srgbClr val="FDEDEA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4480560"/>
            <a:ext cx="4526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74,2% 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заказов прибыльны, остальные — около </a:t>
            </a:r>
            <a:r>
              <a:rPr lang="en-US" sz="1200" b="1" dirty="0">
                <a:solidFill>
                  <a:srgbClr val="E85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уходят в убыток. Это и есть та проблема, которую дальше объясняют гипотезы.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3 · РАЗВЕДОЧНЫЙ АНАЛИЗ (EDA)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Сегменты, рынки и взаимосвязи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3502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сильнее всего связано с прибылью заказа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2F8F8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223387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15798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Сегменты клиентов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27889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Consumer, Corporate, Home Office — медианы и разброс прибыли визуально очень похожи: сегмент сам по себе не делит клиентов на «выгодных» и «невыгодных».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4256" y="187452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2F8F8"/>
          </a:solidFill>
          <a:ln/>
        </p:spPr>
      </p:sp>
      <p:sp>
        <p:nvSpPr>
          <p:cNvPr id="11" name="Shape 8"/>
          <p:cNvSpPr/>
          <p:nvPr/>
        </p:nvSpPr>
        <p:spPr>
          <a:xfrm>
            <a:off x="4654296" y="21031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055" y="223387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94376" y="215798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Рынки сбыта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654296" y="27889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и APAC дают наибольшую среднюю прибыль с заказа, EMEA — наименьшую. География рынка влияет на результат сильнее, чем тип клиента.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19872" y="187452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03363D"/>
          </a:solidFill>
          <a:ln/>
          <a:effectLst>
            <a:outerShdw blurRad="1270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39912" y="21031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0671" y="22338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212140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Корреляционный анализ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439912" y="2880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-0.85</a:t>
            </a:r>
            <a:endParaRPr lang="en-US" sz="3600" dirty="0"/>
          </a:p>
        </p:txBody>
      </p:sp>
      <p:sp>
        <p:nvSpPr>
          <p:cNvPr id="20" name="Text 15"/>
          <p:cNvSpPr/>
          <p:nvPr/>
        </p:nvSpPr>
        <p:spPr>
          <a:xfrm>
            <a:off x="8439912" y="3520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 Discount и profit_margin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439912" y="402336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выше скидка — тем ниже маржа заказа. Это самая сильная связь во всём датасете и главная зацепка для гипотез.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· DATA ANALYTICS · ВЫПУСКНОЙ ПРОЕКТ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4 · КЛЮЧЕВЫЕ МЕТРИКИ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Маржинальность по категориям и сегментам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маржа прибыли (Profit / Sales) и сводка по клиентским сегментам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2880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6636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2F8F8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28523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 — самая массовая И самая маржинальная категория (≈6%). Furniture — самая низкомаржинальная (≈1%).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35040" y="182880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по сегментам клиентов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194560"/>
          <a:ext cx="5577840" cy="16611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Сегмент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3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Заказов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3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Сред. продажа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3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Сред. прибыль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3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Сред. маржа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3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26 517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245.43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15 429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Office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9 343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247.24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035040" y="4160520"/>
            <a:ext cx="5577840" cy="1874520"/>
          </a:xfrm>
          <a:prstGeom prst="roundRect">
            <a:avLst>
              <a:gd name="adj" fmla="val 3902"/>
            </a:avLst>
          </a:prstGeom>
          <a:solidFill>
            <a:srgbClr val="03363D"/>
          </a:solidFill>
          <a:ln/>
        </p:spPr>
      </p:sp>
      <p:sp>
        <p:nvSpPr>
          <p:cNvPr id="11" name="Shape 7"/>
          <p:cNvSpPr/>
          <p:nvPr/>
        </p:nvSpPr>
        <p:spPr>
          <a:xfrm>
            <a:off x="6355080" y="4407408"/>
            <a:ext cx="502920" cy="502920"/>
          </a:xfrm>
          <a:prstGeom prst="ellipse">
            <a:avLst/>
          </a:prstGeom>
          <a:solidFill>
            <a:srgbClr val="0A4A52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839" y="4538167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95160" y="44622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по сегментам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355080" y="502920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три сегмента почти неотличимы по средней прибыли (28–30) и марже (5%). Сегмент клиента — слабый предиктор прибыльности заказа, в отличие от скидки.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· DATA ANALYTICS · ВЫПУСКНОЙ ПРОЕКТ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5 · ЛИНЕЙНАЯ РЕГРЕССИЯ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Можно ли предсказать прибыль заказа?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Модель: Linear Regression · признаки: Sales, Quantity, Discount, Shipping.Cost, delivery_days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0,162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объясняет 16,2% вариации прибыли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965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= 59,27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0" y="2514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ошибка предсказания, $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5532120" cy="2606040"/>
          </a:xfrm>
          <a:prstGeom prst="roundRect">
            <a:avLst>
              <a:gd name="adj" fmla="val 2807"/>
            </a:avLst>
          </a:prstGeom>
          <a:solidFill>
            <a:srgbClr val="F2F8F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118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значит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97764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R² — ожидаемый и честный результат: простая линейная модель улавливает лишь часть закономерности. Прибыль заказа зависит и от категории товара, и от региона — факторов, которые не сводятся к прямой линии.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Важность признаков</a:t>
            </a:r>
            <a:endParaRPr lang="en-US" sz="13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6400800" y="2148840"/>
          <a:ext cx="52120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· DATA ANALYTICS · ВЫПУСКНОЙ ПРОЕКТ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6 · ПРОВЕРКА ГИПОТЕЗ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подтвердилось, а что нет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Статистический тест: t-test независимых выборок, порог значимости p &lt; 0,05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AFBF5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76272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2342693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9751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691640" y="2240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Скидка &gt; 20% снижает прибыль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691640" y="2697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Прибыль при скидке &gt; 20%: −71,92  ·  при скидке ≤ 20%: 57,11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40880" y="2148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ПОДТВЕРЖДЕНА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40880" y="25420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0,0001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692640" y="2011680"/>
            <a:ext cx="0" cy="96012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75520" y="2240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Скидка — управляемый рычаг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33375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6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22960" y="3685032"/>
            <a:ext cx="640080" cy="640080"/>
          </a:xfrm>
          <a:prstGeom prst="ellipse">
            <a:avLst/>
          </a:prstGeom>
          <a:solidFill>
            <a:srgbClr val="E85D4B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3851453"/>
            <a:ext cx="307238" cy="30723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691640" y="34838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5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2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1691640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Быстрая доставка повышает прибыль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1691640" y="4206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Быстрая доставка: 28,53  ·  медленная доставка: 28,73 — разница незначима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7040880" y="3657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2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ПОДТВЕРЖДЕНА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040880" y="4050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0,8992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692640" y="3520440"/>
            <a:ext cx="0" cy="96012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875520" y="3749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главный фактор прибыли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48640" y="48463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6F6"/>
          </a:solidFill>
          <a:ln/>
        </p:spPr>
      </p:sp>
      <p:sp>
        <p:nvSpPr>
          <p:cNvPr id="26" name="Shape 22"/>
          <p:cNvSpPr/>
          <p:nvPr/>
        </p:nvSpPr>
        <p:spPr>
          <a:xfrm>
            <a:off x="822960" y="5193792"/>
            <a:ext cx="640080" cy="640080"/>
          </a:xfrm>
          <a:prstGeom prst="ellipse">
            <a:avLst/>
          </a:prstGeom>
          <a:solidFill>
            <a:srgbClr val="E85D4B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5360213"/>
            <a:ext cx="307238" cy="30723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691640" y="49926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5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3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1691640" y="5257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выгоднее, чем Consumer</a:t>
            </a:r>
            <a:endParaRPr lang="en-US" sz="1450" dirty="0"/>
          </a:p>
        </p:txBody>
      </p:sp>
      <p:sp>
        <p:nvSpPr>
          <p:cNvPr id="30" name="Text 25"/>
          <p:cNvSpPr/>
          <p:nvPr/>
        </p:nvSpPr>
        <p:spPr>
          <a:xfrm>
            <a:off x="1691640" y="5715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Corporate: 28,60  ·  Consumer: 28,26 — разница незначима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7040880" y="5166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2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ПОДТВЕРЖДЕНА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7040880" y="55595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0,8483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9692640" y="5029200"/>
            <a:ext cx="0" cy="960120"/>
          </a:xfrm>
          <a:prstGeom prst="line">
            <a:avLst/>
          </a:prstGeom>
          <a:noFill/>
          <a:ln w="12700">
            <a:solidFill>
              <a:srgbClr val="DCE7E7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9875520" y="5257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главный фактор прибыли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· DATA ANALYTICS · ВЫПУСКНОЙ ПРОЕКТ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3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Интерактивный дашборд в Power BI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метрики и фильтры из анализа собраны в одном интерфейсе для бизнес-пользователей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8010144" cy="4610266"/>
          </a:xfrm>
          <a:prstGeom prst="roundRect">
            <a:avLst>
              <a:gd name="adj" fmla="val 992"/>
            </a:avLst>
          </a:prstGeom>
          <a:solidFill>
            <a:srgbClr val="FFFFFF"/>
          </a:solidFill>
          <a:ln/>
        </p:spPr>
      </p:sp>
      <p:pic>
        <p:nvPicPr>
          <p:cNvPr id="6" name="Image 0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901952"/>
            <a:ext cx="7863840" cy="446396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823960" y="1920240"/>
            <a:ext cx="2834640" cy="1078992"/>
          </a:xfrm>
          <a:prstGeom prst="roundRect">
            <a:avLst>
              <a:gd name="adj" fmla="val 6780"/>
            </a:avLst>
          </a:prstGeom>
          <a:solidFill>
            <a:srgbClr val="0A4A52"/>
          </a:solidFill>
          <a:ln/>
        </p:spPr>
      </p:sp>
      <p:sp>
        <p:nvSpPr>
          <p:cNvPr id="8" name="Text 5"/>
          <p:cNvSpPr/>
          <p:nvPr/>
        </p:nvSpPr>
        <p:spPr>
          <a:xfrm>
            <a:off x="9052560" y="20299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млн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052560" y="25420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ОБЩИЕ ПРОДАЖИ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823960" y="3182112"/>
            <a:ext cx="2834640" cy="1078992"/>
          </a:xfrm>
          <a:prstGeom prst="roundRect">
            <a:avLst>
              <a:gd name="adj" fmla="val 6780"/>
            </a:avLst>
          </a:prstGeom>
          <a:solidFill>
            <a:srgbClr val="0A4A52"/>
          </a:solidFill>
          <a:ln/>
        </p:spPr>
      </p:sp>
      <p:sp>
        <p:nvSpPr>
          <p:cNvPr id="11" name="Text 8"/>
          <p:cNvSpPr/>
          <p:nvPr/>
        </p:nvSpPr>
        <p:spPr>
          <a:xfrm>
            <a:off x="905256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млн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052560" y="380390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ПРИБЫЛЬ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823960" y="4443984"/>
            <a:ext cx="2834640" cy="1078992"/>
          </a:xfrm>
          <a:prstGeom prst="roundRect">
            <a:avLst>
              <a:gd name="adj" fmla="val 6780"/>
            </a:avLst>
          </a:prstGeom>
          <a:solidFill>
            <a:srgbClr val="0A4A52"/>
          </a:solidFill>
          <a:ln/>
        </p:spPr>
      </p:sp>
      <p:sp>
        <p:nvSpPr>
          <p:cNvPr id="14" name="Text 11"/>
          <p:cNvSpPr/>
          <p:nvPr/>
        </p:nvSpPr>
        <p:spPr>
          <a:xfrm>
            <a:off x="9052560" y="45537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9052560" y="506577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МАРЖА (ПО ДАШБОРДУ)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823960" y="57607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 по году, рынку и сегменту позволяют любому сотруднику самостоятельно исследовать данные — без обращения к аналитику.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· DATA ANALYTICS · ВЫПУСКНОЙ ПРОЕКТ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ПРОЕКТА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Выводы и рекомендации бизнесу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управляемый рычаг прибыли Superstore — политика скидок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выводы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13055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Скидка — главный враг прибыли: корреляция с маржой ≈ −0,85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66090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доставки практически не влияет на прибыль заказа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300984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19125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клиента почти не влияет на прибыльность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72160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 — самая массовая и маржинальная категория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361688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2519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Линейная регрессия объясняет лишь часть вариации прибыли (R²=0,16)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1828800"/>
            <a:ext cx="5285232" cy="4206240"/>
          </a:xfrm>
          <a:prstGeom prst="roundRect">
            <a:avLst>
              <a:gd name="adj" fmla="val 1739"/>
            </a:avLst>
          </a:prstGeom>
          <a:solidFill>
            <a:srgbClr val="03363D"/>
          </a:solidFill>
          <a:ln/>
          <a:effectLst>
            <a:outerShdw blurRad="1270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20574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 БИЗНЕСУ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24231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23760" y="238658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Ограничить скидки выше 20%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23760" y="28803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именно они систематически уводят заказы в минус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75120" y="363016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630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359359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использовать ускоренную доставку как способ повышения прибыли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23760" y="408736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она не даёт измеримого финансового эффекта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75120" y="4837176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4837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23760" y="48006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Сосредоточить допродажи на Office Supplies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23760" y="529437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разобраться, почему Furniture даёт низкую маржу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· DATA ANALYTICS · ВЫПУСКНОЙ ПРОЕКТ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33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840480"/>
            <a:ext cx="4572000" cy="4572000"/>
          </a:xfrm>
          <a:prstGeom prst="ellipse">
            <a:avLst/>
          </a:prstGeom>
          <a:solidFill>
            <a:srgbClr val="02C39A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</a:t>
            </a: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внимание</a:t>
            </a:r>
            <a:r>
              <a:rPr lang="kk-KZ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1166</Words>
  <Application>Microsoft Office PowerPoint</Application>
  <PresentationFormat>Широкоэкранный</PresentationFormat>
  <Paragraphs>226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— Анализ продаж и прибыли</dc:title>
  <dc:subject>PptxGenJS Presentation</dc:subject>
  <dc:creator>Superstore Project</dc:creator>
  <cp:lastModifiedBy>Gulnaz Inamatova</cp:lastModifiedBy>
  <cp:revision>2</cp:revision>
  <dcterms:created xsi:type="dcterms:W3CDTF">2026-06-30T16:57:25Z</dcterms:created>
  <dcterms:modified xsi:type="dcterms:W3CDTF">2026-07-01T17:23:56Z</dcterms:modified>
</cp:coreProperties>
</file>